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70" r:id="rId9"/>
    <p:sldId id="274" r:id="rId10"/>
    <p:sldId id="267" r:id="rId11"/>
    <p:sldId id="273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DFF"/>
    <a:srgbClr val="AFFF16"/>
    <a:srgbClr val="FF44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39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5/3/2026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5/3/2026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DC532B-B057-754F-88B9-6D09D6045E4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59615" y="1203767"/>
            <a:ext cx="5432386" cy="4456253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7195" y="2300748"/>
            <a:ext cx="6712420" cy="1374550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/>
              <a:t>STRESS DETECTION USING KEYSTROKES, APPLICATIONS AND MOUSE MOVEMENTS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74618" y="3747854"/>
            <a:ext cx="5734050" cy="1912166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dirty="0"/>
              <a:t>Name of the Presenter: PRIYANKA TAMANG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Roll No of the Presenter: 22CS8067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Name of the Guide/Supervisor: DR. DEEPANWITA DAS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May,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26BAA-FD5C-0D4A-9A37-547CC19C67AD}"/>
              </a:ext>
            </a:extLst>
          </p:cNvPr>
          <p:cNvSpPr txBox="1"/>
          <p:nvPr/>
        </p:nvSpPr>
        <p:spPr>
          <a:xfrm>
            <a:off x="2395959" y="6141881"/>
            <a:ext cx="6354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Department of Computer Science and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EFBCC-337B-854C-B708-1B706E3EF10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10239" y="515446"/>
            <a:ext cx="1034638" cy="10542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3143A-ABAF-464B-9961-48304C7161DE}"/>
              </a:ext>
            </a:extLst>
          </p:cNvPr>
          <p:cNvSpPr txBox="1"/>
          <p:nvPr/>
        </p:nvSpPr>
        <p:spPr>
          <a:xfrm>
            <a:off x="7123611" y="4736690"/>
            <a:ext cx="5210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image will be replaced with the Graphical Abstract of the work, if any, otherwise skip it.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4892DB-D5EC-B99C-1CB8-2454AA83DC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615" y="1197980"/>
            <a:ext cx="5432385" cy="445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3382" y="87998"/>
            <a:ext cx="9980682" cy="1096962"/>
          </a:xfrm>
        </p:spPr>
        <p:txBody>
          <a:bodyPr/>
          <a:lstStyle/>
          <a:p>
            <a:r>
              <a:rPr lang="en-US" dirty="0"/>
              <a:t>Problem Definition/Objective of the work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83009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/>
              <a:t>PROBLEM DEFINITION:</a:t>
            </a:r>
          </a:p>
          <a:p>
            <a:r>
              <a:rPr lang="en-US" dirty="0"/>
              <a:t>“The problem addressed in this work is the detection of human stress levels using non-intrusive behavioral data such as keystroke dynamics, mouse movements, and application usage patterns.</a:t>
            </a:r>
          </a:p>
          <a:p>
            <a:r>
              <a:rPr lang="en-US" dirty="0"/>
              <a:t>Traditional stress detection methods rely on physiological sensors like EDA and ECG, which are costly and intrusive.</a:t>
            </a:r>
          </a:p>
          <a:p>
            <a:r>
              <a:rPr lang="en-US" dirty="0"/>
              <a:t>This project proposes a machine learning-based approach to detect stress using everyday computer interaction data without additional hardware.”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000" b="1" dirty="0"/>
              <a:t>OBJECTIVE</a:t>
            </a:r>
            <a:r>
              <a:rPr lang="en-US" sz="3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To develop a machine learning model for stress detection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To analyze behavioral features like keystrokes and mouse movements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To achieve accurate classification using different ML models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To compare performance of models using evaluation metrics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450286" y="6204857"/>
            <a:ext cx="1188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Slide no:</a:t>
            </a: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8572" y="544009"/>
            <a:ext cx="10935111" cy="744899"/>
          </a:xfrm>
        </p:spPr>
        <p:txBody>
          <a:bodyPr anchor="t"/>
          <a:lstStyle/>
          <a:p>
            <a:r>
              <a:rPr lang="en-US" dirty="0"/>
              <a:t>Contribution of your work: Algorithm/Methodology/Flowchart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0286" y="6204857"/>
            <a:ext cx="1188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Slide no: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34DB8-EA67-D60C-35D3-344998AC8F23}"/>
              </a:ext>
            </a:extLst>
          </p:cNvPr>
          <p:cNvSpPr txBox="1"/>
          <p:nvPr/>
        </p:nvSpPr>
        <p:spPr>
          <a:xfrm>
            <a:off x="2737301" y="1557431"/>
            <a:ext cx="602324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Dataset Collection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Data Preprocessing (cleaning, handling missing values)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Feature Extraction (typing speed, inactivity, app usage)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Time Series Analysis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Apply ML Models (Random Forest, XGBoost, etc.)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Evaluate using Accuracy, Precision, Recall, F1-score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Identify Important Features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Result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of the work: Performance analysis, Comparative discussion, if any.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163" y="1600200"/>
            <a:ext cx="5268123" cy="457199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1800" dirty="0"/>
              <a:t>XGBoost achieved the highest accuracy (~76%)</a:t>
            </a:r>
          </a:p>
          <a:p>
            <a:r>
              <a:rPr lang="en-US" sz="1800" dirty="0"/>
              <a:t>Random Forest also performed well with high recall</a:t>
            </a:r>
          </a:p>
          <a:p>
            <a:r>
              <a:rPr lang="en-US" sz="1800" dirty="0"/>
              <a:t>Gradient Boosting and Logistic Regression performed poorly</a:t>
            </a:r>
          </a:p>
          <a:p>
            <a:r>
              <a:rPr lang="en-US" sz="1800" dirty="0"/>
              <a:t>Tree-based models like Random Forest and XGBoost performed better because they effectively capture non-linear relationships in behavioral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6046" y="6335486"/>
            <a:ext cx="1188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Slide no: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B8897E-3F1F-A7AE-DBF2-705D2AFAC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901511"/>
              </p:ext>
            </p:extLst>
          </p:nvPr>
        </p:nvGraphicFramePr>
        <p:xfrm>
          <a:off x="5804963" y="1498437"/>
          <a:ext cx="5616188" cy="4041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315">
                  <a:extLst>
                    <a:ext uri="{9D8B030D-6E8A-4147-A177-3AD203B41FA5}">
                      <a16:colId xmlns:a16="http://schemas.microsoft.com/office/drawing/2014/main" val="810142988"/>
                    </a:ext>
                  </a:extLst>
                </a:gridCol>
                <a:gridCol w="1119162">
                  <a:extLst>
                    <a:ext uri="{9D8B030D-6E8A-4147-A177-3AD203B41FA5}">
                      <a16:colId xmlns:a16="http://schemas.microsoft.com/office/drawing/2014/main" val="2251597554"/>
                    </a:ext>
                  </a:extLst>
                </a:gridCol>
                <a:gridCol w="1123237">
                  <a:extLst>
                    <a:ext uri="{9D8B030D-6E8A-4147-A177-3AD203B41FA5}">
                      <a16:colId xmlns:a16="http://schemas.microsoft.com/office/drawing/2014/main" val="1729913593"/>
                    </a:ext>
                  </a:extLst>
                </a:gridCol>
                <a:gridCol w="1123237">
                  <a:extLst>
                    <a:ext uri="{9D8B030D-6E8A-4147-A177-3AD203B41FA5}">
                      <a16:colId xmlns:a16="http://schemas.microsoft.com/office/drawing/2014/main" val="483956643"/>
                    </a:ext>
                  </a:extLst>
                </a:gridCol>
                <a:gridCol w="1123237">
                  <a:extLst>
                    <a:ext uri="{9D8B030D-6E8A-4147-A177-3AD203B41FA5}">
                      <a16:colId xmlns:a16="http://schemas.microsoft.com/office/drawing/2014/main" val="3684790001"/>
                    </a:ext>
                  </a:extLst>
                </a:gridCol>
              </a:tblGrid>
              <a:tr h="8398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411623"/>
                  </a:ext>
                </a:extLst>
              </a:tr>
              <a:tr h="602656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XG BOOST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76.40%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769645"/>
                  </a:ext>
                </a:extLst>
              </a:tr>
              <a:tr h="602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              BOOSTING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32.00%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0416444"/>
                  </a:ext>
                </a:extLst>
              </a:tr>
              <a:tr h="602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FOREST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74.5%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489197"/>
                  </a:ext>
                </a:extLst>
              </a:tr>
              <a:tr h="6966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67.60%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088438"/>
                  </a:ext>
                </a:extLst>
              </a:tr>
              <a:tr h="6966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      REGRESSION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29.41%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887153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2898280-BA8C-820E-2CF5-93C13C18889B}"/>
              </a:ext>
            </a:extLst>
          </p:cNvPr>
          <p:cNvSpPr txBox="1"/>
          <p:nvPr/>
        </p:nvSpPr>
        <p:spPr>
          <a:xfrm>
            <a:off x="5917053" y="5881657"/>
            <a:ext cx="550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Table 1: Class-wise Performance (Stressed)</a:t>
            </a:r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of the work: Performance analysis, Comparative discussion, if any.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550223"/>
            <a:ext cx="1188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Slide no: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08E59E-9A59-465D-3AFE-C5282EFAB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22717"/>
              </p:ext>
            </p:extLst>
          </p:nvPr>
        </p:nvGraphicFramePr>
        <p:xfrm>
          <a:off x="991092" y="1516134"/>
          <a:ext cx="5327117" cy="401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290">
                  <a:extLst>
                    <a:ext uri="{9D8B030D-6E8A-4147-A177-3AD203B41FA5}">
                      <a16:colId xmlns:a16="http://schemas.microsoft.com/office/drawing/2014/main" val="810142988"/>
                    </a:ext>
                  </a:extLst>
                </a:gridCol>
                <a:gridCol w="1061558">
                  <a:extLst>
                    <a:ext uri="{9D8B030D-6E8A-4147-A177-3AD203B41FA5}">
                      <a16:colId xmlns:a16="http://schemas.microsoft.com/office/drawing/2014/main" val="2251597554"/>
                    </a:ext>
                  </a:extLst>
                </a:gridCol>
                <a:gridCol w="1065423">
                  <a:extLst>
                    <a:ext uri="{9D8B030D-6E8A-4147-A177-3AD203B41FA5}">
                      <a16:colId xmlns:a16="http://schemas.microsoft.com/office/drawing/2014/main" val="1729913593"/>
                    </a:ext>
                  </a:extLst>
                </a:gridCol>
                <a:gridCol w="1065423">
                  <a:extLst>
                    <a:ext uri="{9D8B030D-6E8A-4147-A177-3AD203B41FA5}">
                      <a16:colId xmlns:a16="http://schemas.microsoft.com/office/drawing/2014/main" val="483956643"/>
                    </a:ext>
                  </a:extLst>
                </a:gridCol>
                <a:gridCol w="1065423">
                  <a:extLst>
                    <a:ext uri="{9D8B030D-6E8A-4147-A177-3AD203B41FA5}">
                      <a16:colId xmlns:a16="http://schemas.microsoft.com/office/drawing/2014/main" val="3684790001"/>
                    </a:ext>
                  </a:extLst>
                </a:gridCol>
              </a:tblGrid>
              <a:tr h="8337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411623"/>
                  </a:ext>
                </a:extLst>
              </a:tr>
              <a:tr h="59825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XG BOOST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76.40%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769645"/>
                  </a:ext>
                </a:extLst>
              </a:tr>
              <a:tr h="5982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          BOOSTING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32.00%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0.49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0416444"/>
                  </a:ext>
                </a:extLst>
              </a:tr>
              <a:tr h="5982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FOREST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74.5%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0.37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489197"/>
                  </a:ext>
                </a:extLst>
              </a:tr>
              <a:tr h="6915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67.60%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088438"/>
                  </a:ext>
                </a:extLst>
              </a:tr>
              <a:tr h="6915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      REGRESSION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29.41%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0.45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88715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49123B5-2E36-34C3-D50D-BC0CCC617E23}"/>
              </a:ext>
            </a:extLst>
          </p:cNvPr>
          <p:cNvSpPr txBox="1"/>
          <p:nvPr/>
        </p:nvSpPr>
        <p:spPr>
          <a:xfrm>
            <a:off x="1008790" y="5802867"/>
            <a:ext cx="5327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Table 2 : Class-wise Performance (Non-Stressed)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1ADFDB-820E-1109-A047-E1B2340FE361}"/>
              </a:ext>
            </a:extLst>
          </p:cNvPr>
          <p:cNvSpPr txBox="1"/>
          <p:nvPr/>
        </p:nvSpPr>
        <p:spPr>
          <a:xfrm>
            <a:off x="6536485" y="1622323"/>
            <a:ext cx="5486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table shows model performance for the </a:t>
            </a:r>
            <a:r>
              <a:rPr lang="en-US" b="1" dirty="0"/>
              <a:t>non-stressed class</a:t>
            </a:r>
          </a:p>
          <a:p>
            <a:endParaRPr lang="en-US" b="1" dirty="0"/>
          </a:p>
          <a:p>
            <a:r>
              <a:rPr lang="en-US" dirty="0"/>
              <a:t>XGBoost shows balanced precision and recall</a:t>
            </a:r>
          </a:p>
          <a:p>
            <a:endParaRPr lang="en-US" dirty="0"/>
          </a:p>
          <a:p>
            <a:r>
              <a:rPr lang="en-US" dirty="0"/>
              <a:t>Random Forest has high precision but lower recall</a:t>
            </a:r>
          </a:p>
          <a:p>
            <a:endParaRPr lang="en-US" dirty="0"/>
          </a:p>
          <a:p>
            <a:r>
              <a:rPr lang="en-US" dirty="0"/>
              <a:t>Logistic Regression shows poor performance due to inability to capture non-linear patterns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31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78E12-5F8D-6F19-A134-5B941E1FA3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747"/>
            <a:ext cx="3999762" cy="33390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2004B8-EF1A-780F-9BC9-9A5D49F8CFF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99762" y="-1"/>
            <a:ext cx="3602969" cy="3232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D7DBA2-A758-42AD-F511-07518D56C19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602731" y="-16804"/>
            <a:ext cx="4579652" cy="3402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BE276C-8FA7-AA86-6C95-F04E2E6EEAE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617" y="3353781"/>
            <a:ext cx="3919353" cy="33891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CB88B-0A42-6223-ECF0-0FBDDD7B67C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999762" y="3182699"/>
            <a:ext cx="3761822" cy="3560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8A051E-A841-CF55-3ECF-349E6C39810B}"/>
              </a:ext>
            </a:extLst>
          </p:cNvPr>
          <p:cNvSpPr txBox="1"/>
          <p:nvPr/>
        </p:nvSpPr>
        <p:spPr>
          <a:xfrm>
            <a:off x="7875639" y="3429000"/>
            <a:ext cx="4316361" cy="3440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COMMON TOP 5 FEATURES OF EACH MODEL:</a:t>
            </a:r>
          </a:p>
          <a:p>
            <a:endParaRPr lang="en-IN" dirty="0"/>
          </a:p>
          <a:p>
            <a:r>
              <a:rPr lang="en-US" dirty="0"/>
              <a:t>Background application count (bg_apps) is the most important feature across all models, indicating multitasking behavior is strongly related to stress.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79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This project demonstrates that stress can be effectively detected using behavioral data such as keystrokes, mouse movements, and application usage.</a:t>
            </a:r>
          </a:p>
          <a:p>
            <a:r>
              <a:rPr lang="en-US" sz="1800" dirty="0"/>
              <a:t>Among all models, XGBoost performed best with balanced accuracy and recall.</a:t>
            </a:r>
            <a:br>
              <a:rPr lang="en-US" sz="1800" dirty="0"/>
            </a:br>
            <a:r>
              <a:rPr lang="en-US" sz="1800" dirty="0"/>
              <a:t>The study proves that non-intrusive methods can replace traditional sensor-based techniques.</a:t>
            </a:r>
          </a:p>
          <a:p>
            <a:r>
              <a:rPr lang="en-US" sz="1800" dirty="0"/>
              <a:t>However, performance is limited due to small dataset size, and future work can improve generalization using larger datasets.</a:t>
            </a:r>
          </a:p>
          <a:p>
            <a:r>
              <a:rPr lang="en-US" sz="1800" dirty="0"/>
              <a:t>This highlights the potential of behavioral analytics for real-world stress monitoring applications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0286" y="6204857"/>
            <a:ext cx="1188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Slide no:</a:t>
            </a:r>
          </a:p>
        </p:txBody>
      </p:sp>
    </p:spTree>
    <p:extLst>
      <p:ext uri="{BB962C8B-B14F-4D97-AF65-F5344CB8AC3E}">
        <p14:creationId xmlns:p14="http://schemas.microsoft.com/office/powerpoint/2010/main" val="207126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D330-F72F-4B3D-E80D-7745403D3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47CAC-8E87-A521-F086-84B606E29488}"/>
              </a:ext>
            </a:extLst>
          </p:cNvPr>
          <p:cNvSpPr txBox="1"/>
          <p:nvPr/>
        </p:nvSpPr>
        <p:spPr>
          <a:xfrm>
            <a:off x="1104900" y="1722612"/>
            <a:ext cx="99806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 larger and more diverse datasets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Apply deep learning 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Real-time stress detection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Integration with workplace monitoring systems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58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 dirty="0"/>
              <a:t>1. A. Aci´en et al., “Detection of Mental Fatigue in the General Population: Feasibility Study of Keystroke Dynamics as a Real-world Biomarker,” JMIR Biomedical Engineering, 2022.</a:t>
            </a:r>
            <a:endParaRPr lang="en-IN" sz="5600" dirty="0"/>
          </a:p>
          <a:p>
            <a:r>
              <a:rPr lang="en-US" sz="5600" dirty="0"/>
              <a:t>2. A. Kolakowska, “Towards Detecting Programmers’ Stress on the Basis of Keystroke Dynamics,” Annals of Computer Science and Information Systems, 2016.</a:t>
            </a:r>
            <a:endParaRPr lang="en-IN" sz="5600" dirty="0"/>
          </a:p>
          <a:p>
            <a:r>
              <a:rPr lang="en-US" sz="5600" dirty="0"/>
              <a:t>3. S. H. Lau, “Stress Detection for Keystroke Dynamics,” Ph.D. dissertation, Carnegie Mellon University, 2018.</a:t>
            </a:r>
            <a:endParaRPr lang="en-IN" sz="5600" dirty="0"/>
          </a:p>
          <a:p>
            <a:r>
              <a:rPr lang="en-US" sz="5600" dirty="0"/>
              <a:t>4. N. S. D. Chintalapudi et al., “Stress Detection Analysis by Using Keystroke Dynamics,” International Journal of Engineering and Computer Science, 2022. </a:t>
            </a:r>
            <a:endParaRPr lang="en-IN" sz="5600" dirty="0"/>
          </a:p>
          <a:p>
            <a:r>
              <a:rPr lang="en-US" sz="5600" dirty="0"/>
              <a:t>5. A. Sultanov and K. Kogos, “Insider Threat Detection Based on Stress Recognition Using Keystroke Dynamics,” 2020.</a:t>
            </a:r>
            <a:endParaRPr lang="en-IN" sz="5600" dirty="0"/>
          </a:p>
          <a:p>
            <a:r>
              <a:rPr lang="en-US" sz="5600" dirty="0"/>
              <a:t>6. D. Naegelin et al., “An Interpretable Machine Learning Approach to Multimodal Stress Detection,” 2023.</a:t>
            </a:r>
            <a:endParaRPr lang="en-IN" sz="5600" dirty="0"/>
          </a:p>
          <a:p>
            <a:r>
              <a:rPr lang="en-US" sz="5600" dirty="0"/>
              <a:t>7. C. Epp, M. Lippold, and R. Mandryk, “Identifying Emotional States Using Keystroke Dynamics,” in Proceedings of the SIGCHI Conference on Human Factors in Computing Systems (CHI), pp. 715–724, 2011.</a:t>
            </a:r>
            <a:endParaRPr lang="en-IN" sz="5600" dirty="0"/>
          </a:p>
          <a:p>
            <a:r>
              <a:rPr lang="en-US" sz="5600" dirty="0"/>
              <a:t>8. L. Vizer, L. Zhou, and A. Sears, “Automated Stress Detection Using Keystroke and Linguistic Features,” International Journal of Human–Computer Studies, vol. 67, no. 10, pp. 870–886, 2009.</a:t>
            </a:r>
            <a:endParaRPr lang="en-IN" sz="5600" dirty="0"/>
          </a:p>
          <a:p>
            <a:r>
              <a:rPr lang="en-US" sz="5600" dirty="0"/>
              <a:t>9. L. Giancardo et al., “Computer Keyboard Interaction as an Indicator of Micro-Motor Impairments,” Scientific Reports, vol. 5, Article 16416, 2015.Stress Detection Using ML.</a:t>
            </a:r>
            <a:endParaRPr lang="en-IN" sz="5600" dirty="0"/>
          </a:p>
          <a:p>
            <a:r>
              <a:rPr lang="en-US" sz="5600" dirty="0"/>
              <a:t>10. J. Hernandez, D. McDuff, and R. Picard, “Multimodal Behavioral Biometrics for Stress Detection,” IEEE Transactions on Affective Computing, 2021.</a:t>
            </a:r>
            <a:endParaRPr lang="en-IN" sz="5600" dirty="0"/>
          </a:p>
          <a:p>
            <a:r>
              <a:rPr lang="en-US" sz="5600" dirty="0"/>
              <a:t>11. Chamindu Weerasinghe, </a:t>
            </a:r>
            <a:r>
              <a:rPr lang="en-US" sz="5600" i="1" dirty="0"/>
              <a:t>“Stress Detection by Keystroke, App and Mouse Changes,”</a:t>
            </a:r>
            <a:r>
              <a:rPr lang="en-US" sz="5600" dirty="0"/>
              <a:t> dataset 2021, available on Kaggle</a:t>
            </a:r>
            <a:endParaRPr lang="en-IN" sz="5600" dirty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0489475" y="6348549"/>
            <a:ext cx="1188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Slide no: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Literature 16x9</Template>
  <TotalTime>4252</TotalTime>
  <Words>1041</Words>
  <Application>Microsoft Office PowerPoint</Application>
  <PresentationFormat>Widescreen</PresentationFormat>
  <Paragraphs>214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Euphemia</vt:lpstr>
      <vt:lpstr>Plantagenet Cherokee</vt:lpstr>
      <vt:lpstr>Times New Roman</vt:lpstr>
      <vt:lpstr>Wingdings</vt:lpstr>
      <vt:lpstr>Academic Literature 16x9</vt:lpstr>
      <vt:lpstr>STRESS DETECTION USING KEYSTROKES, APPLICATIONS AND MOUSE MOVEMENTS</vt:lpstr>
      <vt:lpstr>Problem Definition/Objective of the work </vt:lpstr>
      <vt:lpstr>Contribution of your work: Algorithm/Methodology/Flowchart etc.</vt:lpstr>
      <vt:lpstr>Outcome of the work: Performance analysis, Comparative discussion, if any.</vt:lpstr>
      <vt:lpstr>Outcome of the work: Performance analysis, Comparative discussion, if any.</vt:lpstr>
      <vt:lpstr>PowerPoint Presentation</vt:lpstr>
      <vt:lpstr>Conclusion:</vt:lpstr>
      <vt:lpstr>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work/project/thesis</dc:title>
  <dc:creator>Microsoft Office User</dc:creator>
  <cp:lastModifiedBy>priyankatamang007@outlook.com</cp:lastModifiedBy>
  <cp:revision>13</cp:revision>
  <dcterms:created xsi:type="dcterms:W3CDTF">2021-04-19T03:50:30Z</dcterms:created>
  <dcterms:modified xsi:type="dcterms:W3CDTF">2026-05-06T11:22:59Z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